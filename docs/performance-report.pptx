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548640"/>
          </a:xfrm>
          <a:prstGeom prst="rect">
            <a:avLst/>
          </a:prstGeom>
          <a:solidFill>
            <a:srgbClr val="0A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366F1"/>
                </a:solidFill>
              </a:rPr>
              <a:t>KLA · AI FOR BHARAT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404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Prototype Performance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412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8296"/>
                </a:solidFill>
              </a:rPr>
              <a:t>Benchmarking · Accuracy · Load Testing · Coverage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70432"/>
            <a:ext cx="13898880" cy="22860"/>
          </a:xfrm>
          <a:prstGeom prst="rect">
            <a:avLst/>
          </a:prstGeom>
          <a:solidFill>
            <a:srgbClr val="1E2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98448"/>
            <a:ext cx="3310128" cy="1207008"/>
          </a:xfrm>
          <a:prstGeom prst="rect">
            <a:avLst/>
          </a:prstGeom>
          <a:solidFill>
            <a:srgbClr val="0D1117"/>
          </a:solidFill>
          <a:ln w="9525">
            <a:solidFill>
              <a:srgbClr val="1E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98448"/>
            <a:ext cx="45720" cy="1207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4D399"/>
                </a:solidFill>
              </a:rPr>
              <a:t>468+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78308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Tests Written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05740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88296"/>
                </a:solidFill>
              </a:rPr>
              <a:t>100% Pass 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58768" y="1298448"/>
            <a:ext cx="3310128" cy="1207008"/>
          </a:xfrm>
          <a:prstGeom prst="rect">
            <a:avLst/>
          </a:prstGeom>
          <a:solidFill>
            <a:srgbClr val="0D1117"/>
          </a:solidFill>
          <a:ln w="9525">
            <a:solidFill>
              <a:srgbClr val="1E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58768" y="1298448"/>
            <a:ext cx="45720" cy="1207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59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6366F1"/>
                </a:solidFill>
              </a:rPr>
              <a:t>96+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59" y="178308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API Endpoints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59" y="205740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88296"/>
                </a:solidFill>
              </a:rPr>
              <a:t>34 Route Files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51775" y="1298448"/>
            <a:ext cx="3310128" cy="1207008"/>
          </a:xfrm>
          <a:prstGeom prst="rect">
            <a:avLst/>
          </a:prstGeom>
          <a:solidFill>
            <a:srgbClr val="0D1117"/>
          </a:solidFill>
          <a:ln w="9525">
            <a:solidFill>
              <a:srgbClr val="1E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51775" y="1298448"/>
            <a:ext cx="45720" cy="1207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16367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BBF24"/>
                </a:solidFill>
              </a:rPr>
              <a:t>400 VUs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6367" y="178308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Max Stress Load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6367" y="205740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88296"/>
                </a:solidFill>
              </a:rPr>
              <a:t>10-min Stress Test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844784" y="1298448"/>
            <a:ext cx="3310128" cy="1207008"/>
          </a:xfrm>
          <a:prstGeom prst="rect">
            <a:avLst/>
          </a:prstGeom>
          <a:solidFill>
            <a:srgbClr val="0D1117"/>
          </a:solidFill>
          <a:ln w="9525">
            <a:solidFill>
              <a:srgbClr val="1E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844784" y="1298448"/>
            <a:ext cx="45720" cy="1207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09376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6B6D4"/>
                </a:solidFill>
              </a:rPr>
              <a:t>&lt;2s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9376" y="178308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p95 Response 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9376" y="205740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88296"/>
                </a:solidFill>
              </a:rPr>
              <a:t>p99 &lt; 5s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670048"/>
            <a:ext cx="5029200" cy="3108960"/>
          </a:xfrm>
          <a:prstGeom prst="rect">
            <a:avLst/>
          </a:prstGeom>
          <a:solidFill>
            <a:srgbClr val="0D1117"/>
          </a:solidFill>
          <a:ln w="9525">
            <a:solidFill>
              <a:srgbClr val="1E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2743200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🎯  AI Accuracy Metrics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145536"/>
            <a:ext cx="4754880" cy="265176"/>
          </a:xfrm>
          <a:prstGeom prst="rect">
            <a:avLst/>
          </a:prstGeom>
          <a:solidFill>
            <a:srgbClr val="121926"/>
          </a:solidFill>
          <a:ln w="9525">
            <a:solidFill>
              <a:srgbClr val="19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3182112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2E1"/>
                </a:solidFill>
              </a:rPr>
              <a:t>Spam / Moderation Detection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318211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34D399"/>
                </a:solidFill>
              </a:rPr>
              <a:t>&gt;90%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470148"/>
            <a:ext cx="4754880" cy="265176"/>
          </a:xfrm>
          <a:prstGeom prst="rect">
            <a:avLst/>
          </a:prstGeom>
          <a:solidFill>
            <a:srgbClr val="121926"/>
          </a:solidFill>
          <a:ln w="9525">
            <a:solidFill>
              <a:srgbClr val="19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3506724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2E1"/>
                </a:solidFill>
              </a:rPr>
              <a:t>Content Uniqueness Score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3506724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34D399"/>
                </a:solidFill>
              </a:rPr>
              <a:t>&gt;80%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3794760"/>
            <a:ext cx="4754880" cy="265176"/>
          </a:xfrm>
          <a:prstGeom prst="rect">
            <a:avLst/>
          </a:prstGeom>
          <a:solidFill>
            <a:srgbClr val="121926"/>
          </a:solidFill>
          <a:ln w="9525">
            <a:solidFill>
              <a:srgbClr val="19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3831336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2E1"/>
                </a:solidFill>
              </a:rPr>
              <a:t>Viral Pattern Recognition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3831336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06B6D4"/>
                </a:solidFill>
              </a:rPr>
              <a:t>&gt;75%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4119372"/>
            <a:ext cx="4754880" cy="265176"/>
          </a:xfrm>
          <a:prstGeom prst="rect">
            <a:avLst/>
          </a:prstGeom>
          <a:solidFill>
            <a:srgbClr val="121926"/>
          </a:solidFill>
          <a:ln w="9525">
            <a:solidFill>
              <a:srgbClr val="19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4155948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2E1"/>
                </a:solidFill>
              </a:rPr>
              <a:t>Creative Director Agreement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0" y="415594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06B6D4"/>
                </a:solidFill>
              </a:rPr>
              <a:t>&gt;70%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4443983"/>
            <a:ext cx="4754880" cy="265176"/>
          </a:xfrm>
          <a:prstGeom prst="rect">
            <a:avLst/>
          </a:prstGeom>
          <a:solidFill>
            <a:srgbClr val="121926"/>
          </a:solidFill>
          <a:ln w="9525">
            <a:solidFill>
              <a:srgbClr val="19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4480559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2E1"/>
                </a:solidFill>
              </a:rPr>
              <a:t>Regional Matching Accuracy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0" y="4480559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6366F1"/>
                </a:solidFill>
              </a:rPr>
              <a:t>&gt;80%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4768596"/>
            <a:ext cx="4754880" cy="265176"/>
          </a:xfrm>
          <a:prstGeom prst="rect">
            <a:avLst/>
          </a:prstGeom>
          <a:solidFill>
            <a:srgbClr val="121926"/>
          </a:solidFill>
          <a:ln w="9525">
            <a:solidFill>
              <a:srgbClr val="19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4805172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2E1"/>
                </a:solidFill>
              </a:rPr>
              <a:t>Translation Quality (NMT)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0" y="480517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6366F1"/>
                </a:solidFill>
              </a:rPr>
              <a:t>&gt;85%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5093208"/>
            <a:ext cx="4754880" cy="265176"/>
          </a:xfrm>
          <a:prstGeom prst="rect">
            <a:avLst/>
          </a:prstGeom>
          <a:solidFill>
            <a:srgbClr val="121926"/>
          </a:solidFill>
          <a:ln w="9525">
            <a:solidFill>
              <a:srgbClr val="19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" y="5129784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2E1"/>
                </a:solidFill>
              </a:rPr>
              <a:t>Graph Relationship Accuracy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0" y="5129784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34D399"/>
                </a:solidFill>
              </a:rPr>
              <a:t>100%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5417820"/>
            <a:ext cx="4754880" cy="265176"/>
          </a:xfrm>
          <a:prstGeom prst="rect">
            <a:avLst/>
          </a:prstGeom>
          <a:solidFill>
            <a:srgbClr val="121926"/>
          </a:solidFill>
          <a:ln w="9525">
            <a:solidFill>
              <a:srgbClr val="19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" y="5454396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2E1"/>
                </a:solidFill>
              </a:rPr>
              <a:t>Viral Score Prediction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0" y="5454396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BBF24"/>
                </a:solidFill>
              </a:rPr>
              <a:t>75%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77840" y="2670048"/>
            <a:ext cx="4297680" cy="3108960"/>
          </a:xfrm>
          <a:prstGeom prst="rect">
            <a:avLst/>
          </a:prstGeom>
          <a:solidFill>
            <a:srgbClr val="0D1117"/>
          </a:solidFill>
          <a:ln w="9525">
            <a:solidFill>
              <a:srgbClr val="1E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760720" y="2743200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⚡  Load Test Scenarios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715000" y="3200400"/>
            <a:ext cx="3977639" cy="475488"/>
          </a:xfrm>
          <a:prstGeom prst="rect">
            <a:avLst/>
          </a:prstGeom>
          <a:solidFill>
            <a:srgbClr val="121926"/>
          </a:solidFill>
          <a:ln w="9525">
            <a:solidFill>
              <a:srgbClr val="19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200400"/>
            <a:ext cx="45720" cy="47548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870448" y="323697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Upload Load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70448" y="343814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366F1"/>
                </a:solidFill>
              </a:rPr>
              <a:t>100 VUs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0" y="343814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88296"/>
                </a:solidFill>
              </a:rPr>
              <a:t>7 min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715000" y="3785615"/>
            <a:ext cx="3977639" cy="475488"/>
          </a:xfrm>
          <a:prstGeom prst="rect">
            <a:avLst/>
          </a:prstGeom>
          <a:solidFill>
            <a:srgbClr val="121926"/>
          </a:solidFill>
          <a:ln w="9525">
            <a:solidFill>
              <a:srgbClr val="19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715000" y="3785615"/>
            <a:ext cx="45720" cy="4754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870448" y="3822191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Content Gen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870448" y="4023359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6B6D4"/>
                </a:solidFill>
              </a:rPr>
              <a:t> 50 VUs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0" y="4023359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88296"/>
                </a:solidFill>
              </a:rPr>
              <a:t>7 min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715000" y="4370832"/>
            <a:ext cx="3977639" cy="475488"/>
          </a:xfrm>
          <a:prstGeom prst="rect">
            <a:avLst/>
          </a:prstGeom>
          <a:solidFill>
            <a:srgbClr val="121926"/>
          </a:solidFill>
          <a:ln w="9525">
            <a:solidFill>
              <a:srgbClr val="19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715000" y="4370832"/>
            <a:ext cx="45720" cy="47548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870448" y="440740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Rate Limit Burst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870448" y="460857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BBF24"/>
                </a:solidFill>
              </a:rPr>
              <a:t>150 VUs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15200" y="4608576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88296"/>
                </a:solidFill>
              </a:rPr>
              <a:t>2.5 min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715000" y="4956048"/>
            <a:ext cx="3977639" cy="475488"/>
          </a:xfrm>
          <a:prstGeom prst="rect">
            <a:avLst/>
          </a:prstGeom>
          <a:solidFill>
            <a:srgbClr val="121926"/>
          </a:solidFill>
          <a:ln w="9525">
            <a:solidFill>
              <a:srgbClr val="19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715000" y="4956048"/>
            <a:ext cx="45720" cy="47548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870448" y="499262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Stress / Breaking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870448" y="519379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87171"/>
                </a:solidFill>
              </a:rPr>
              <a:t>400 VUs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15200" y="51937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88296"/>
                </a:solidFill>
              </a:rPr>
              <a:t>10 min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760720" y="510235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88296"/>
                </a:solidFill>
              </a:rPr>
              <a:t>SLA Thresholds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760720" y="5330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88296"/>
                </a:solidFill>
              </a:rPr>
              <a:t>• Error Rate (normal)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595360" y="533095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34D399"/>
                </a:solidFill>
              </a:rPr>
              <a:t>&lt;1%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760720" y="5532120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88296"/>
                </a:solidFill>
              </a:rPr>
              <a:t>• Error Rate (stress)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95360" y="553212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BBF24"/>
                </a:solidFill>
              </a:rPr>
              <a:t>&lt;5%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760720" y="5733288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88296"/>
                </a:solidFill>
              </a:rPr>
              <a:t>• Min Throughput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595360" y="573328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06B6D4"/>
                </a:solidFill>
              </a:rPr>
              <a:t>100 req/s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058400" y="2670048"/>
            <a:ext cx="4206240" cy="1444752"/>
          </a:xfrm>
          <a:prstGeom prst="rect">
            <a:avLst/>
          </a:prstGeom>
          <a:solidFill>
            <a:srgbClr val="0D1117"/>
          </a:solidFill>
          <a:ln w="9525">
            <a:solidFill>
              <a:srgbClr val="1E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241280" y="2743200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🛠  Tech Stack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195560" y="3145536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88296"/>
                </a:solidFill>
              </a:rPr>
              <a:t>Runtime: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247120" y="314553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8D7EB"/>
                </a:solidFill>
              </a:rPr>
              <a:t>Node.js · TypeScript · Express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195560" y="341071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88296"/>
                </a:solidFill>
              </a:rPr>
              <a:t>AI/ML: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247120" y="341071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8D7EB"/>
                </a:solidFill>
              </a:rPr>
              <a:t>AWS Bedrock · OpenAI GPT-4o · GitHub Models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195560" y="3675887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88296"/>
                </a:solidFill>
              </a:rPr>
              <a:t>Cloud: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247120" y="3675887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8D7EB"/>
                </a:solidFill>
              </a:rPr>
              <a:t>S3 · DynamoDB · SQS · Transcribe · Rekognition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195560" y="3941063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88296"/>
                </a:solidFill>
              </a:rPr>
              <a:t>Security: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247120" y="3941063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8D7EB"/>
                </a:solidFill>
              </a:rPr>
              <a:t>JWT · bcrypt · Helmet · Rate Limiting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195560" y="420624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88296"/>
                </a:solidFill>
              </a:rPr>
              <a:t>Testing: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247120" y="42062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8D7EB"/>
                </a:solidFill>
              </a:rPr>
              <a:t>Jest 468+ tests · K6 Load · fast-check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058400" y="4224528"/>
            <a:ext cx="4206240" cy="1554480"/>
          </a:xfrm>
          <a:prstGeom prst="rect">
            <a:avLst/>
          </a:prstGeom>
          <a:solidFill>
            <a:srgbClr val="0D1117"/>
          </a:solidFill>
          <a:ln w="9525">
            <a:solidFill>
              <a:srgbClr val="1E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241280" y="4297680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🚀  Content Multiplier Output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241280" y="468172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1 video  →  105 pieces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241280" y="49834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88296"/>
                </a:solidFill>
              </a:rPr>
              <a:t>20 clips · 30 quotes · 15 audiograms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241280" y="528523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88296"/>
                </a:solidFill>
              </a:rPr>
              <a:t>20 infographics · 20 thumbnails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241280" y="558698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</a:rPr>
              <a:t>7 platforms  ·  12+ videos &lt; 5s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0" y="7955279"/>
            <a:ext cx="14630400" cy="274320"/>
          </a:xfrm>
          <a:prstGeom prst="rect">
            <a:avLst/>
          </a:prstGeom>
          <a:solidFill>
            <a:srgbClr val="0A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65760" y="7973568"/>
            <a:ext cx="1188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88296"/>
                </a:solidFill>
              </a:rPr>
              <a:t>All benchmarks measured on prototype build  ·  March 2026  ·  KLA — AI for Bharat (Kiro Hackathon Submission)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2344400" y="797356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3C465A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