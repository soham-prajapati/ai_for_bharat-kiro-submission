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ader_band"/>
          <p:cNvSpPr/>
          <p:nvPr/>
        </p:nvSpPr>
        <p:spPr>
          <a:xfrm>
            <a:off x="0" y="0"/>
            <a:ext cx="14630400" cy="548640"/>
          </a:xfrm>
          <a:prstGeom prst="rect">
            <a:avLst/>
          </a:prstGeom>
          <a:solidFill>
            <a:srgbClr val="0A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accent"/>
          <p:cNvSpPr/>
          <p:nvPr/>
        </p:nvSpPr>
        <p:spPr>
          <a:xfrm>
            <a:off x="0" y="0"/>
            <a:ext cx="146304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6366F1"/>
                </a:solidFill>
              </a:rPr>
              <a:t>KLA · AI FOR BHARAT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Prototype Performance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4124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788296"/>
                </a:solidFill>
              </a:rPr>
              <a:t>Benchmarking · Accuracy · Load Testing · Coverage</a:t>
            </a:r>
          </a:p>
        </p:txBody>
      </p:sp>
      <p:sp>
        <p:nvSpPr>
          <p:cNvPr id="8" name="divider"/>
          <p:cNvSpPr/>
          <p:nvPr/>
        </p:nvSpPr>
        <p:spPr>
          <a:xfrm>
            <a:off x="365760" y="1170432"/>
            <a:ext cx="13898880" cy="22860"/>
          </a:xfrm>
          <a:prstGeom prst="rect">
            <a:avLst/>
          </a:prstGeom>
          <a:solidFill>
            <a:srgbClr val="1E2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pi_bg_0"/>
          <p:cNvSpPr/>
          <p:nvPr/>
        </p:nvSpPr>
        <p:spPr>
          <a:xfrm>
            <a:off x="365760" y="1298448"/>
            <a:ext cx="3308299" cy="12070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pi_bar_0"/>
          <p:cNvSpPr/>
          <p:nvPr/>
        </p:nvSpPr>
        <p:spPr>
          <a:xfrm>
            <a:off x="365760" y="1298448"/>
            <a:ext cx="45720" cy="1207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371600"/>
            <a:ext cx="310713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34D399"/>
                </a:solidFill>
              </a:rPr>
              <a:t>468+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783080"/>
            <a:ext cx="3107131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Tests Written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057400"/>
            <a:ext cx="310713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788296"/>
                </a:solidFill>
              </a:rPr>
              <a:t>100% Pass Rate</a:t>
            </a:r>
          </a:p>
        </p:txBody>
      </p:sp>
      <p:sp>
        <p:nvSpPr>
          <p:cNvPr id="14" name="kpi_bg_1"/>
          <p:cNvSpPr/>
          <p:nvPr/>
        </p:nvSpPr>
        <p:spPr>
          <a:xfrm>
            <a:off x="3858768" y="1298448"/>
            <a:ext cx="3308299" cy="12070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kpi_bar_1"/>
          <p:cNvSpPr/>
          <p:nvPr/>
        </p:nvSpPr>
        <p:spPr>
          <a:xfrm>
            <a:off x="3858768" y="1298448"/>
            <a:ext cx="45720" cy="1207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1371600"/>
            <a:ext cx="310713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6366F1"/>
                </a:solidFill>
              </a:rPr>
              <a:t>96+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1783080"/>
            <a:ext cx="3107131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API Endpoints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2057400"/>
            <a:ext cx="310713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788296"/>
                </a:solidFill>
              </a:rPr>
              <a:t>34 Route Files</a:t>
            </a:r>
          </a:p>
        </p:txBody>
      </p:sp>
      <p:sp>
        <p:nvSpPr>
          <p:cNvPr id="19" name="kpi_bg_2"/>
          <p:cNvSpPr/>
          <p:nvPr/>
        </p:nvSpPr>
        <p:spPr>
          <a:xfrm>
            <a:off x="7351776" y="1298448"/>
            <a:ext cx="3308299" cy="12070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kpi_bar_2"/>
          <p:cNvSpPr/>
          <p:nvPr/>
        </p:nvSpPr>
        <p:spPr>
          <a:xfrm>
            <a:off x="7351776" y="1298448"/>
            <a:ext cx="45720" cy="1207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16368" y="1371600"/>
            <a:ext cx="310713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BBF24"/>
                </a:solidFill>
              </a:rPr>
              <a:t>400 VUs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1783080"/>
            <a:ext cx="3107131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Max Stress 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8" y="2057400"/>
            <a:ext cx="310713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788296"/>
                </a:solidFill>
              </a:rPr>
              <a:t>10-min Stress Test</a:t>
            </a:r>
          </a:p>
        </p:txBody>
      </p:sp>
      <p:sp>
        <p:nvSpPr>
          <p:cNvPr id="24" name="kpi_bg_3"/>
          <p:cNvSpPr/>
          <p:nvPr/>
        </p:nvSpPr>
        <p:spPr>
          <a:xfrm>
            <a:off x="10844784" y="1298448"/>
            <a:ext cx="3308299" cy="12070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kpi_bar_3"/>
          <p:cNvSpPr/>
          <p:nvPr/>
        </p:nvSpPr>
        <p:spPr>
          <a:xfrm>
            <a:off x="10844784" y="1298448"/>
            <a:ext cx="45720" cy="1207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09376" y="1371600"/>
            <a:ext cx="310713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6B6D4"/>
                </a:solidFill>
              </a:rPr>
              <a:t>&lt;2s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9376" y="1783080"/>
            <a:ext cx="3107131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p95 Response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9376" y="2057400"/>
            <a:ext cx="310713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788296"/>
                </a:solidFill>
              </a:rPr>
              <a:t>p99 &lt; 5s</a:t>
            </a:r>
          </a:p>
        </p:txBody>
      </p:sp>
      <p:sp>
        <p:nvSpPr>
          <p:cNvPr id="29" name="panel_ai"/>
          <p:cNvSpPr/>
          <p:nvPr/>
        </p:nvSpPr>
        <p:spPr>
          <a:xfrm>
            <a:off x="365760" y="2670048"/>
            <a:ext cx="5029200" cy="413308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anel_load"/>
          <p:cNvSpPr/>
          <p:nvPr/>
        </p:nvSpPr>
        <p:spPr>
          <a:xfrm>
            <a:off x="5577840" y="2670048"/>
            <a:ext cx="4297680" cy="413308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anel_ts"/>
          <p:cNvSpPr/>
          <p:nvPr/>
        </p:nvSpPr>
        <p:spPr>
          <a:xfrm>
            <a:off x="10058400" y="2670048"/>
            <a:ext cx="4206240" cy="238658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anel_cm"/>
          <p:cNvSpPr/>
          <p:nvPr/>
        </p:nvSpPr>
        <p:spPr>
          <a:xfrm>
            <a:off x="10058400" y="5166360"/>
            <a:ext cx="4206240" cy="1636776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2743200"/>
            <a:ext cx="482803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🎯  AI Accuracy Metrics</a:t>
            </a:r>
          </a:p>
        </p:txBody>
      </p:sp>
      <p:sp>
        <p:nvSpPr>
          <p:cNvPr id="34" name="ai_row_0"/>
          <p:cNvSpPr/>
          <p:nvPr/>
        </p:nvSpPr>
        <p:spPr>
          <a:xfrm>
            <a:off x="502920" y="3145536"/>
            <a:ext cx="4846320" cy="265176"/>
          </a:xfrm>
          <a:prstGeom prst="rect">
            <a:avLst/>
          </a:prstGeom>
          <a:solidFill>
            <a:srgbClr val="12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3191256"/>
            <a:ext cx="3474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C8D2E1"/>
                </a:solidFill>
              </a:rPr>
              <a:t>Spam / Moderation Detection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3191256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34D399"/>
                </a:solidFill>
              </a:rPr>
              <a:t>&gt;90%</a:t>
            </a:r>
          </a:p>
        </p:txBody>
      </p:sp>
      <p:sp>
        <p:nvSpPr>
          <p:cNvPr id="37" name="ai_row_1"/>
          <p:cNvSpPr/>
          <p:nvPr/>
        </p:nvSpPr>
        <p:spPr>
          <a:xfrm>
            <a:off x="502920" y="3471062"/>
            <a:ext cx="4846320" cy="265176"/>
          </a:xfrm>
          <a:prstGeom prst="rect">
            <a:avLst/>
          </a:prstGeom>
          <a:solidFill>
            <a:srgbClr val="12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3516782"/>
            <a:ext cx="3474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C8D2E1"/>
                </a:solidFill>
              </a:rPr>
              <a:t>Content Uniqueness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351678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34D399"/>
                </a:solidFill>
              </a:rPr>
              <a:t>&gt;80%</a:t>
            </a:r>
          </a:p>
        </p:txBody>
      </p:sp>
      <p:sp>
        <p:nvSpPr>
          <p:cNvPr id="40" name="ai_row_2"/>
          <p:cNvSpPr/>
          <p:nvPr/>
        </p:nvSpPr>
        <p:spPr>
          <a:xfrm>
            <a:off x="502920" y="3796589"/>
            <a:ext cx="4846320" cy="265176"/>
          </a:xfrm>
          <a:prstGeom prst="rect">
            <a:avLst/>
          </a:prstGeom>
          <a:solidFill>
            <a:srgbClr val="12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3842309"/>
            <a:ext cx="3474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C8D2E1"/>
                </a:solidFill>
              </a:rPr>
              <a:t>Viral Pattern Recognition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3842309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06B6D4"/>
                </a:solidFill>
              </a:rPr>
              <a:t>&gt;75%</a:t>
            </a:r>
          </a:p>
        </p:txBody>
      </p:sp>
      <p:sp>
        <p:nvSpPr>
          <p:cNvPr id="43" name="ai_row_3"/>
          <p:cNvSpPr/>
          <p:nvPr/>
        </p:nvSpPr>
        <p:spPr>
          <a:xfrm>
            <a:off x="502920" y="4122115"/>
            <a:ext cx="4846320" cy="265176"/>
          </a:xfrm>
          <a:prstGeom prst="rect">
            <a:avLst/>
          </a:prstGeom>
          <a:solidFill>
            <a:srgbClr val="12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4167835"/>
            <a:ext cx="3474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C8D2E1"/>
                </a:solidFill>
              </a:rPr>
              <a:t>Creative Director Agreement (vs. experts)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4167835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06B6D4"/>
                </a:solidFill>
              </a:rPr>
              <a:t>&gt;70%</a:t>
            </a:r>
          </a:p>
        </p:txBody>
      </p:sp>
      <p:sp>
        <p:nvSpPr>
          <p:cNvPr id="46" name="ai_row_4"/>
          <p:cNvSpPr/>
          <p:nvPr/>
        </p:nvSpPr>
        <p:spPr>
          <a:xfrm>
            <a:off x="502920" y="4447642"/>
            <a:ext cx="4846320" cy="265176"/>
          </a:xfrm>
          <a:prstGeom prst="rect">
            <a:avLst/>
          </a:prstGeom>
          <a:solidFill>
            <a:srgbClr val="12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4493362"/>
            <a:ext cx="3474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C8D2E1"/>
                </a:solidFill>
              </a:rPr>
              <a:t>Regional Matching Accuracy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0" y="449336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6366F1"/>
                </a:solidFill>
              </a:rPr>
              <a:t>&gt;80%</a:t>
            </a:r>
          </a:p>
        </p:txBody>
      </p:sp>
      <p:sp>
        <p:nvSpPr>
          <p:cNvPr id="49" name="ai_row_5"/>
          <p:cNvSpPr/>
          <p:nvPr/>
        </p:nvSpPr>
        <p:spPr>
          <a:xfrm>
            <a:off x="502920" y="4773168"/>
            <a:ext cx="4846320" cy="265176"/>
          </a:xfrm>
          <a:prstGeom prst="rect">
            <a:avLst/>
          </a:prstGeom>
          <a:solidFill>
            <a:srgbClr val="12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4818888"/>
            <a:ext cx="3474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C8D2E1"/>
                </a:solidFill>
              </a:rPr>
              <a:t>Translation Quality (NMT)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0" y="481888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6366F1"/>
                </a:solidFill>
              </a:rPr>
              <a:t>&gt;85%</a:t>
            </a:r>
          </a:p>
        </p:txBody>
      </p:sp>
      <p:sp>
        <p:nvSpPr>
          <p:cNvPr id="52" name="ai_row_6"/>
          <p:cNvSpPr/>
          <p:nvPr/>
        </p:nvSpPr>
        <p:spPr>
          <a:xfrm>
            <a:off x="502920" y="5098694"/>
            <a:ext cx="4846320" cy="265176"/>
          </a:xfrm>
          <a:prstGeom prst="rect">
            <a:avLst/>
          </a:prstGeom>
          <a:solidFill>
            <a:srgbClr val="12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5144414"/>
            <a:ext cx="3474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C8D2E1"/>
                </a:solidFill>
              </a:rPr>
              <a:t>Graph Relationship Accuracy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0" y="514441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34D399"/>
                </a:solidFill>
              </a:rPr>
              <a:t>100%</a:t>
            </a:r>
          </a:p>
        </p:txBody>
      </p:sp>
      <p:sp>
        <p:nvSpPr>
          <p:cNvPr id="55" name="ai_row_7"/>
          <p:cNvSpPr/>
          <p:nvPr/>
        </p:nvSpPr>
        <p:spPr>
          <a:xfrm>
            <a:off x="502920" y="5424221"/>
            <a:ext cx="4846320" cy="265176"/>
          </a:xfrm>
          <a:prstGeom prst="rect">
            <a:avLst/>
          </a:prstGeom>
          <a:solidFill>
            <a:srgbClr val="12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" y="5469941"/>
            <a:ext cx="3474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C8D2E1"/>
                </a:solidFill>
              </a:rPr>
              <a:t>Viral Score Prediction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5469941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BBF24"/>
                </a:solidFill>
              </a:rPr>
              <a:t>75%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5817413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788296"/>
                </a:solidFill>
              </a:rPr>
              <a:t>✅  All targets met on prototype build.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60720" y="2743200"/>
            <a:ext cx="40965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⚡  Load Test Scenarios</a:t>
            </a:r>
          </a:p>
        </p:txBody>
      </p:sp>
      <p:sp>
        <p:nvSpPr>
          <p:cNvPr id="60" name="sc_bg_0"/>
          <p:cNvSpPr/>
          <p:nvPr/>
        </p:nvSpPr>
        <p:spPr>
          <a:xfrm>
            <a:off x="5715000" y="3200400"/>
            <a:ext cx="4114800" cy="475488"/>
          </a:xfrm>
          <a:prstGeom prst="rect">
            <a:avLst/>
          </a:prstGeom>
          <a:solidFill>
            <a:srgbClr val="12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c_bar_0"/>
          <p:cNvSpPr/>
          <p:nvPr/>
        </p:nvSpPr>
        <p:spPr>
          <a:xfrm>
            <a:off x="5715000" y="3200400"/>
            <a:ext cx="45720" cy="4754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70448" y="3236976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Upload Load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70448" y="3456432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366F1"/>
                </a:solidFill>
              </a:rPr>
              <a:t>100 VUs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06640" y="3456432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788296"/>
                </a:solidFill>
              </a:rPr>
              <a:t>7 min</a:t>
            </a:r>
          </a:p>
        </p:txBody>
      </p:sp>
      <p:sp>
        <p:nvSpPr>
          <p:cNvPr id="65" name="sc_bg_1"/>
          <p:cNvSpPr/>
          <p:nvPr/>
        </p:nvSpPr>
        <p:spPr>
          <a:xfrm>
            <a:off x="5715000" y="3785616"/>
            <a:ext cx="4114800" cy="475488"/>
          </a:xfrm>
          <a:prstGeom prst="rect">
            <a:avLst/>
          </a:prstGeom>
          <a:solidFill>
            <a:srgbClr val="12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c_bar_1"/>
          <p:cNvSpPr/>
          <p:nvPr/>
        </p:nvSpPr>
        <p:spPr>
          <a:xfrm>
            <a:off x="5715000" y="3785616"/>
            <a:ext cx="45720" cy="4754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870448" y="382219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Content Gen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70448" y="404164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06B6D4"/>
                </a:solidFill>
              </a:rPr>
              <a:t>50 VUs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06640" y="4041648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788296"/>
                </a:solidFill>
              </a:rPr>
              <a:t>7 min</a:t>
            </a:r>
          </a:p>
        </p:txBody>
      </p:sp>
      <p:sp>
        <p:nvSpPr>
          <p:cNvPr id="70" name="sc_bg_2"/>
          <p:cNvSpPr/>
          <p:nvPr/>
        </p:nvSpPr>
        <p:spPr>
          <a:xfrm>
            <a:off x="5715000" y="4370832"/>
            <a:ext cx="4114800" cy="475488"/>
          </a:xfrm>
          <a:prstGeom prst="rect">
            <a:avLst/>
          </a:prstGeom>
          <a:solidFill>
            <a:srgbClr val="12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sc_bar_2"/>
          <p:cNvSpPr/>
          <p:nvPr/>
        </p:nvSpPr>
        <p:spPr>
          <a:xfrm>
            <a:off x="5715000" y="4370832"/>
            <a:ext cx="45720" cy="47548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870448" y="4407408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Rate Limit Burst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70448" y="4626864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FBBF24"/>
                </a:solidFill>
              </a:rPr>
              <a:t>150 VUs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06640" y="4626864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788296"/>
                </a:solidFill>
              </a:rPr>
              <a:t>2.5 min</a:t>
            </a:r>
          </a:p>
        </p:txBody>
      </p:sp>
      <p:sp>
        <p:nvSpPr>
          <p:cNvPr id="75" name="sc_bg_3"/>
          <p:cNvSpPr/>
          <p:nvPr/>
        </p:nvSpPr>
        <p:spPr>
          <a:xfrm>
            <a:off x="5715000" y="4956048"/>
            <a:ext cx="4114800" cy="475488"/>
          </a:xfrm>
          <a:prstGeom prst="rect">
            <a:avLst/>
          </a:prstGeom>
          <a:solidFill>
            <a:srgbClr val="12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sc_bar_3"/>
          <p:cNvSpPr/>
          <p:nvPr/>
        </p:nvSpPr>
        <p:spPr>
          <a:xfrm>
            <a:off x="5715000" y="4956048"/>
            <a:ext cx="45720" cy="47548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870448" y="4992624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Stress / Breaking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870448" y="521208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F87171"/>
                </a:solidFill>
              </a:rPr>
              <a:t>400 VUs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06640" y="521208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788296"/>
                </a:solidFill>
              </a:rPr>
              <a:t>10 min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60720" y="5477256"/>
            <a:ext cx="40965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788296"/>
                </a:solidFill>
              </a:rPr>
              <a:t>SLA Thresholds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760720" y="5724144"/>
            <a:ext cx="265176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788296"/>
                </a:solidFill>
              </a:rPr>
              <a:t>• Error Rate (normal load)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32520" y="5724144"/>
            <a:ext cx="105156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4D399"/>
                </a:solidFill>
              </a:rPr>
              <a:t>&lt;1%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60720" y="5897880"/>
            <a:ext cx="265176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788296"/>
                </a:solidFill>
              </a:rPr>
              <a:t>• Error Rate (stress load)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732520" y="5897880"/>
            <a:ext cx="105156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BBF24"/>
                </a:solidFill>
              </a:rPr>
              <a:t>&lt;5%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760720" y="6071616"/>
            <a:ext cx="265176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788296"/>
                </a:solidFill>
              </a:rPr>
              <a:t>• Min Throughput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732520" y="6071616"/>
            <a:ext cx="105156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6B6D4"/>
                </a:solidFill>
              </a:rPr>
              <a:t>100 req/s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60720" y="6245352"/>
            <a:ext cx="265176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788296"/>
                </a:solidFill>
              </a:rPr>
              <a:t>• p95 Response Time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732520" y="6245352"/>
            <a:ext cx="105156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6B6D4"/>
                </a:solidFill>
              </a:rPr>
              <a:t>&lt; 2,000 ms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760720" y="6419088"/>
            <a:ext cx="265176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788296"/>
                </a:solidFill>
              </a:rPr>
              <a:t>• p99 Response Time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732520" y="6419088"/>
            <a:ext cx="105156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6366F1"/>
                </a:solidFill>
              </a:rPr>
              <a:t>&lt; 5,000 ms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760720" y="6592824"/>
            <a:ext cx="265176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788296"/>
                </a:solidFill>
              </a:rPr>
              <a:t>• Success Rate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732520" y="6592824"/>
            <a:ext cx="105156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4D399"/>
                </a:solidFill>
              </a:rPr>
              <a:t>≥ 99%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241280" y="2743200"/>
            <a:ext cx="40050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🛠  Tech Stack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195560" y="3145536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788296"/>
                </a:solidFill>
              </a:rPr>
              <a:t>Runtime: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173968" y="3145536"/>
            <a:ext cx="3044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8D7EB"/>
                </a:solidFill>
              </a:rPr>
              <a:t>Node.js · TypeScript · Express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195560" y="3410712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788296"/>
                </a:solidFill>
              </a:rPr>
              <a:t>AI/ML: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173968" y="3410712"/>
            <a:ext cx="3044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8D7EB"/>
                </a:solidFill>
              </a:rPr>
              <a:t>AWS Bedrock · OpenAI GPT-4o · GitHub Models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195560" y="3675888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788296"/>
                </a:solidFill>
              </a:rPr>
              <a:t>Cloud: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173968" y="3675888"/>
            <a:ext cx="3044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8D7EB"/>
                </a:solidFill>
              </a:rPr>
              <a:t>S3 · DynamoDB · SQS · Transcribe · Rekognition · CloudFront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195560" y="3941064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788296"/>
                </a:solidFill>
              </a:rPr>
              <a:t>Security: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173968" y="3941064"/>
            <a:ext cx="3044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8D7EB"/>
                </a:solidFill>
              </a:rPr>
              <a:t>JWT · bcrypt · Helmet · CORS · Express Rate Limit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195560" y="420624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788296"/>
                </a:solidFill>
              </a:rPr>
              <a:t>Frontend: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173968" y="4206240"/>
            <a:ext cx="3044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8D7EB"/>
                </a:solidFill>
              </a:rPr>
              <a:t>Next.js 16 · React · Tailwind CSS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195560" y="4471416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788296"/>
                </a:solidFill>
              </a:rPr>
              <a:t>Testing: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173968" y="4471416"/>
            <a:ext cx="3044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8D7EB"/>
                </a:solidFill>
              </a:rPr>
              <a:t>Jest · K6 (load) · Supertest · fast-check (property-based)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195560" y="4736592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788296"/>
                </a:solidFill>
              </a:rPr>
              <a:t>Observability: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173968" y="4736592"/>
            <a:ext cx="3044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8D7EB"/>
                </a:solidFill>
              </a:rPr>
              <a:t>Winston logging · Request ID tracing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241280" y="5239512"/>
            <a:ext cx="40050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🚀  Content Multiplier Output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41280" y="5550408"/>
            <a:ext cx="3977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1 video  →  105 pieces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241280" y="5788152"/>
            <a:ext cx="3977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788296"/>
                </a:solidFill>
              </a:rPr>
              <a:t>20 clips · 30 quotes · 15 audiograms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241280" y="6025896"/>
            <a:ext cx="3977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788296"/>
                </a:solidFill>
              </a:rPr>
              <a:t>20 infographics (6 types) · 20 thumbnails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241280" y="6263640"/>
            <a:ext cx="3977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6B6D4"/>
                </a:solidFill>
              </a:rPr>
              <a:t>7 platforms  ·  12+ videos processed &lt; 5s</a:t>
            </a:r>
          </a:p>
        </p:txBody>
      </p:sp>
      <p:sp>
        <p:nvSpPr>
          <p:cNvPr id="113" name="footer_band"/>
          <p:cNvSpPr/>
          <p:nvPr/>
        </p:nvSpPr>
        <p:spPr>
          <a:xfrm>
            <a:off x="0" y="7955280"/>
            <a:ext cx="14630400" cy="274320"/>
          </a:xfrm>
          <a:prstGeom prst="rect">
            <a:avLst/>
          </a:prstGeom>
          <a:solidFill>
            <a:srgbClr val="0A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ooter_accent"/>
          <p:cNvSpPr/>
          <p:nvPr/>
        </p:nvSpPr>
        <p:spPr>
          <a:xfrm>
            <a:off x="0" y="7955280"/>
            <a:ext cx="14630400" cy="228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65760" y="7978140"/>
            <a:ext cx="11887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788296"/>
                </a:solidFill>
              </a:rPr>
              <a:t>All benchmarks on prototype build  ·  March 2026  ·  KLA — AI for Bharat  ·  Kiro Hackathon Submission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344400" y="7978140"/>
            <a:ext cx="1920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788296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